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1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AE36603-8988-AECD-10E3-A90665AB57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F609D1FB-FAF2-0623-3FA4-E895A896C6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2B0D395-8D49-8C26-6A02-50B0EAE65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AD643F9-B272-2622-0D65-7C48ACD83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53782F0-C645-127B-11DD-3B62A81EB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5819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D28AD22-1CE5-581C-3EAD-59DD81527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A58CA9-DF0A-FAF5-0B9D-85A661DD0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9CF8605-C56D-5D85-EA1A-0A00DCC6F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2EE803C-CC5D-F72C-9C46-912D32D66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DF19891-3731-F635-C412-D384572CC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194163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DA183F-F894-00F1-9C5F-AE90BFC70A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8FDC47E-4923-E6F0-C628-807861694E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ECFB52-9C72-294B-42F5-2C39CFBDF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FE6185A-17CF-A373-91E4-54B8E054D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A7DFA33-6BF9-5B5E-41AE-84350EE0F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3113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3F424E-FDCF-4EE8-29E2-047194182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599B3C6-746C-7E8D-C017-9AEFB756F4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D6BB4E8-A747-097E-888C-BBE8D1792E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5E73594-7B20-F490-1E9C-E5D59592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A2B57FA-EFB9-7C04-1715-3926A639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74616D-4573-3548-6EEE-FE4B04F25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30369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60E07CF-017E-266A-AE80-CCBA1627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9BDD929-559E-FDF3-3605-D54BC3F575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74166F7F-8902-2C3C-1A2D-F39929D762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67720642-9F09-BA8C-997B-4F2F20F561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3A2F4156-E85B-730A-ADCB-C42244C8C9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9A74B003-79F9-13C8-FE68-5CCD14C7AC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EC97C089-2EDD-26A0-5335-D473DDF3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A77B26AC-CE72-186F-C5EC-ACF4A00FB8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10890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C660536-4E25-068B-81EF-6F1BD08C5D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9F177A7-6E00-0B62-B008-A9C66907A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3B6491B-633A-9766-D30A-F6826935FA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F2F0E3B-1033-FA6B-CC06-346BB2B33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869614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E8692C0-48D5-F436-5B7E-6E1F4FFD6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A626AB5-8B11-8184-F4A8-54D6E17F5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98C4FEE-E9F3-CBDE-6C4E-39CC0A67E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60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E78725-D72B-2A97-4EFA-47A5F3AFC3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3A9C24-7503-734D-FFD9-AF471F8E5F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9D3FDD2-2BF0-C716-4CDC-88BCFA4B0D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220F7BA-8D01-E005-223A-F2BBA6143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F6C6DF4-B2EF-ADC5-B125-47D6D7B9C0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F4EE895-F939-97F7-D5ED-F8170C556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6321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045B52-8BA9-5BF2-0210-30B4096B6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4EA6255D-DF72-3E4E-3F72-7DB521DC66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E73DFEB-A6F4-11F3-1773-CAFD29BDD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53E5CFA-822B-8BF6-D5EC-6917961E5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6F103E6-6A4A-5700-C4A3-A3BE9B295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98C6948-A820-A4E2-250D-52CD0CECC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08160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13C7B67-688E-9FEB-B53B-732722428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0274667-B1BA-22E7-13E3-AD421B661AE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60D9419-D194-BD6D-9902-245B04660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F7AD8A0-BC14-6C19-3B54-A9696F00F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D9E9FD0-A97F-B590-75A4-153BACFB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599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54121D-B3ED-E890-B3E7-81CE77228F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060FFDC1-B858-EBA4-C48C-002D2FD1A1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4775507-E81E-8DB1-41DD-AF47F89F1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1685915-6B0F-A6BB-1515-5ADD44F732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FA4CD75-0E01-49ED-807E-4B4FD38A8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515178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06546CE-DC34-8AEA-D521-30EA16650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6925056-FC8A-327D-6326-173472F649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37AA1D6-C656-045D-4729-098EED12B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2ADB77-AEA5-4672-BC66-5D16058F126F}" type="datetimeFigureOut">
              <a:rPr lang="fr-FR" smtClean="0"/>
              <a:t>01/04/2026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B2AA2E0-9BB5-B89A-667C-B47E9B3D48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1A62DE0-019C-5E10-B90B-859FFC29ED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AE41FA-D327-4472-92F9-56175BCBEA0B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141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svg"/><Relationship Id="rId3" Type="http://schemas.microsoft.com/office/2007/relationships/hdphoto" Target="../media/hdphoto1.wdp"/><Relationship Id="rId7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image" Target="../media/image8.png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6.png"/><Relationship Id="rId5" Type="http://schemas.openxmlformats.org/officeDocument/2006/relationships/image" Target="../media/image9.png"/><Relationship Id="rId10" Type="http://schemas.openxmlformats.org/officeDocument/2006/relationships/image" Target="../media/image13.png"/><Relationship Id="rId4" Type="http://schemas.microsoft.com/office/2007/relationships/hdphoto" Target="../media/hdphoto3.wdp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 9">
            <a:extLst>
              <a:ext uri="{FF2B5EF4-FFF2-40B4-BE49-F238E27FC236}">
                <a16:creationId xmlns:a16="http://schemas.microsoft.com/office/drawing/2014/main" id="{F2CF1E6C-553B-C1DB-6E20-B6AE4418FF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60217" y1="31903" x2="60652" y2="50933"/>
                        <a14:foregroundMark x1="60652" y1="50933" x2="55761" y2="56157"/>
                        <a14:foregroundMark x1="55761" y1="56157" x2="44022" y2="54478"/>
                        <a14:foregroundMark x1="44022" y1="54478" x2="39783" y2="44776"/>
                        <a14:foregroundMark x1="39783" y1="44776" x2="39783" y2="33022"/>
                        <a14:foregroundMark x1="39783" y1="33022" x2="57826" y2="30410"/>
                        <a14:foregroundMark x1="57826" y1="30410" x2="60217" y2="3283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4188" t="20697" r="23810" b="19577"/>
          <a:stretch>
            <a:fillRect/>
          </a:stretch>
        </p:blipFill>
        <p:spPr>
          <a:xfrm>
            <a:off x="1209124" y="1485339"/>
            <a:ext cx="1917924" cy="1283369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F869E65B-1257-9B9A-0AB1-1B832EC7AF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4445" t="21988" r="16315" b="12281"/>
          <a:stretch>
            <a:fillRect/>
          </a:stretch>
        </p:blipFill>
        <p:spPr>
          <a:xfrm>
            <a:off x="8517351" y="4388324"/>
            <a:ext cx="1351876" cy="1283369"/>
          </a:xfrm>
          <a:prstGeom prst="rect">
            <a:avLst/>
          </a:prstGeom>
        </p:spPr>
      </p:pic>
      <p:sp>
        <p:nvSpPr>
          <p:cNvPr id="12" name="ZoneTexte 11">
            <a:extLst>
              <a:ext uri="{FF2B5EF4-FFF2-40B4-BE49-F238E27FC236}">
                <a16:creationId xmlns:a16="http://schemas.microsoft.com/office/drawing/2014/main" id="{EF6F4592-9EB0-37BD-BF0A-5B7D2F5A6003}"/>
              </a:ext>
            </a:extLst>
          </p:cNvPr>
          <p:cNvSpPr txBox="1"/>
          <p:nvPr/>
        </p:nvSpPr>
        <p:spPr>
          <a:xfrm>
            <a:off x="8359099" y="5783988"/>
            <a:ext cx="16683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/>
              <a:t>Server at </a:t>
            </a:r>
          </a:p>
          <a:p>
            <a:pPr algn="ctr"/>
            <a:r>
              <a:rPr lang="fr-FR" dirty="0"/>
              <a:t>IP 10,10,10,10</a:t>
            </a:r>
          </a:p>
          <a:p>
            <a:pPr algn="ctr"/>
            <a:r>
              <a:rPr lang="fr-FR" dirty="0" err="1"/>
              <a:t>CODe,com</a:t>
            </a:r>
            <a:endParaRPr lang="fr-FR" dirty="0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4A20F3E-4756-1180-90B6-D47057E3B87E}"/>
              </a:ext>
            </a:extLst>
          </p:cNvPr>
          <p:cNvSpPr txBox="1"/>
          <p:nvPr/>
        </p:nvSpPr>
        <p:spPr>
          <a:xfrm>
            <a:off x="1817926" y="2768708"/>
            <a:ext cx="700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client</a:t>
            </a: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763B4B35-D1D7-843E-8DF3-C27FB0E2D0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4445" t="21988" r="16315" b="12281"/>
          <a:stretch>
            <a:fillRect/>
          </a:stretch>
        </p:blipFill>
        <p:spPr>
          <a:xfrm>
            <a:off x="8359099" y="1518057"/>
            <a:ext cx="1351876" cy="1283369"/>
          </a:xfrm>
          <a:prstGeom prst="rect">
            <a:avLst/>
          </a:prstGeom>
        </p:spPr>
      </p:pic>
      <p:sp>
        <p:nvSpPr>
          <p:cNvPr id="15" name="ZoneTexte 14">
            <a:extLst>
              <a:ext uri="{FF2B5EF4-FFF2-40B4-BE49-F238E27FC236}">
                <a16:creationId xmlns:a16="http://schemas.microsoft.com/office/drawing/2014/main" id="{F65A65DD-3F99-1B48-5243-416AE869F59E}"/>
              </a:ext>
            </a:extLst>
          </p:cNvPr>
          <p:cNvSpPr txBox="1"/>
          <p:nvPr/>
        </p:nvSpPr>
        <p:spPr>
          <a:xfrm>
            <a:off x="8359099" y="1084925"/>
            <a:ext cx="1351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DNS Server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E4935F3-E80A-2F07-2E3E-DE1358D9C95E}"/>
              </a:ext>
            </a:extLst>
          </p:cNvPr>
          <p:cNvSpPr txBox="1"/>
          <p:nvPr/>
        </p:nvSpPr>
        <p:spPr>
          <a:xfrm>
            <a:off x="1389296" y="3023735"/>
            <a:ext cx="15721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User enter URL </a:t>
            </a:r>
            <a:r>
              <a:rPr lang="fr-FR" dirty="0" err="1"/>
              <a:t>Code,com</a:t>
            </a:r>
            <a:r>
              <a:rPr lang="fr-FR" dirty="0"/>
              <a:t> on </a:t>
            </a:r>
            <a:r>
              <a:rPr lang="fr-FR" dirty="0" err="1"/>
              <a:t>his</a:t>
            </a:r>
            <a:r>
              <a:rPr lang="fr-FR" dirty="0"/>
              <a:t> browser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97A2FA97-848F-08F8-2E27-8D60C3C249F8}"/>
              </a:ext>
            </a:extLst>
          </p:cNvPr>
          <p:cNvCxnSpPr>
            <a:cxnSpLocks/>
          </p:cNvCxnSpPr>
          <p:nvPr/>
        </p:nvCxnSpPr>
        <p:spPr>
          <a:xfrm>
            <a:off x="3721768" y="1878184"/>
            <a:ext cx="4235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Image 22">
            <a:extLst>
              <a:ext uri="{FF2B5EF4-FFF2-40B4-BE49-F238E27FC236}">
                <a16:creationId xmlns:a16="http://schemas.microsoft.com/office/drawing/2014/main" id="{FCCD8B8F-23CA-F0D6-03A9-9A8CA607CD6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7681" y="2520335"/>
            <a:ext cx="1579566" cy="1053044"/>
          </a:xfrm>
          <a:prstGeom prst="rect">
            <a:avLst/>
          </a:prstGeom>
        </p:spPr>
      </p:pic>
      <p:sp>
        <p:nvSpPr>
          <p:cNvPr id="24" name="ZoneTexte 23">
            <a:extLst>
              <a:ext uri="{FF2B5EF4-FFF2-40B4-BE49-F238E27FC236}">
                <a16:creationId xmlns:a16="http://schemas.microsoft.com/office/drawing/2014/main" id="{90793261-9360-4C9B-A4AE-C6F705373C06}"/>
              </a:ext>
            </a:extLst>
          </p:cNvPr>
          <p:cNvSpPr txBox="1"/>
          <p:nvPr/>
        </p:nvSpPr>
        <p:spPr>
          <a:xfrm>
            <a:off x="5889979" y="2854497"/>
            <a:ext cx="13945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rgbClr val="FF0000"/>
                </a:solidFill>
              </a:rPr>
              <a:t>NETWORK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CD70290C-5765-1167-03B5-764DF3BE0C85}"/>
              </a:ext>
            </a:extLst>
          </p:cNvPr>
          <p:cNvCxnSpPr>
            <a:cxnSpLocks/>
          </p:cNvCxnSpPr>
          <p:nvPr/>
        </p:nvCxnSpPr>
        <p:spPr>
          <a:xfrm flipH="1">
            <a:off x="3721768" y="2449725"/>
            <a:ext cx="42351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33CAB686-3FFF-A6E0-B9AE-5F07A3D34D78}"/>
              </a:ext>
            </a:extLst>
          </p:cNvPr>
          <p:cNvCxnSpPr>
            <a:cxnSpLocks/>
          </p:cNvCxnSpPr>
          <p:nvPr/>
        </p:nvCxnSpPr>
        <p:spPr>
          <a:xfrm flipH="1" flipV="1">
            <a:off x="3238524" y="3288059"/>
            <a:ext cx="4523874" cy="26153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5037A9B-0889-252F-0D4D-47DC08BF8CC6}"/>
              </a:ext>
            </a:extLst>
          </p:cNvPr>
          <p:cNvCxnSpPr>
            <a:cxnSpLocks/>
          </p:cNvCxnSpPr>
          <p:nvPr/>
        </p:nvCxnSpPr>
        <p:spPr>
          <a:xfrm>
            <a:off x="3437789" y="3021266"/>
            <a:ext cx="4603076" cy="269310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ZoneTexte 37">
            <a:extLst>
              <a:ext uri="{FF2B5EF4-FFF2-40B4-BE49-F238E27FC236}">
                <a16:creationId xmlns:a16="http://schemas.microsoft.com/office/drawing/2014/main" id="{1124C2E9-A940-704D-BD42-473FA770364A}"/>
              </a:ext>
            </a:extLst>
          </p:cNvPr>
          <p:cNvSpPr txBox="1"/>
          <p:nvPr/>
        </p:nvSpPr>
        <p:spPr>
          <a:xfrm>
            <a:off x="3087636" y="1293409"/>
            <a:ext cx="486924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1-first the </a:t>
            </a:r>
            <a:r>
              <a:rPr lang="fr-FR" sz="1600" dirty="0" err="1"/>
              <a:t>request</a:t>
            </a:r>
            <a:r>
              <a:rPr lang="fr-FR" sz="1600" dirty="0"/>
              <a:t> </a:t>
            </a:r>
            <a:r>
              <a:rPr lang="fr-FR" sz="1600" dirty="0" err="1"/>
              <a:t>goes</a:t>
            </a:r>
            <a:r>
              <a:rPr lang="fr-FR" sz="1600" dirty="0"/>
              <a:t> to </a:t>
            </a:r>
            <a:r>
              <a:rPr lang="fr-FR" sz="1600" dirty="0" err="1"/>
              <a:t>dns</a:t>
            </a:r>
            <a:r>
              <a:rPr lang="fr-FR" sz="1600" dirty="0"/>
              <a:t> server to </a:t>
            </a:r>
            <a:r>
              <a:rPr lang="fr-FR" sz="1600" dirty="0" err="1"/>
              <a:t>resolve</a:t>
            </a:r>
            <a:r>
              <a:rPr lang="fr-FR" sz="1600" dirty="0"/>
              <a:t> the DNS (</a:t>
            </a:r>
            <a:r>
              <a:rPr lang="fr-FR" sz="1600" dirty="0" err="1"/>
              <a:t>code,com</a:t>
            </a:r>
            <a:r>
              <a:rPr lang="fr-FR" sz="1600" dirty="0"/>
              <a:t>) to IP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708C130A-B30F-2E52-209A-17D49552A037}"/>
              </a:ext>
            </a:extLst>
          </p:cNvPr>
          <p:cNvSpPr txBox="1"/>
          <p:nvPr/>
        </p:nvSpPr>
        <p:spPr>
          <a:xfrm rot="1832684">
            <a:off x="3222780" y="4034887"/>
            <a:ext cx="53455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3- A browser (like Google Chrome) sends a request</a:t>
            </a:r>
            <a:endParaRPr lang="fr-FR" dirty="0"/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B2371EAA-C2F3-C75C-E186-84AE0DD23353}"/>
              </a:ext>
            </a:extLst>
          </p:cNvPr>
          <p:cNvSpPr txBox="1"/>
          <p:nvPr/>
        </p:nvSpPr>
        <p:spPr>
          <a:xfrm rot="1833515">
            <a:off x="2512558" y="47185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dirty="0"/>
              <a:t>4- The server sends back a response (HTML, CSS, JS)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8DF7B676-4E71-466D-A700-31EF734E1D14}"/>
              </a:ext>
            </a:extLst>
          </p:cNvPr>
          <p:cNvSpPr txBox="1"/>
          <p:nvPr/>
        </p:nvSpPr>
        <p:spPr>
          <a:xfrm rot="1835023">
            <a:off x="3789309" y="4197634"/>
            <a:ext cx="33528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This happens using HTTP/HTTPS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E7AB2BF-5327-E7DE-5DEB-E49B9CF2A767}"/>
              </a:ext>
            </a:extLst>
          </p:cNvPr>
          <p:cNvSpPr txBox="1"/>
          <p:nvPr/>
        </p:nvSpPr>
        <p:spPr>
          <a:xfrm>
            <a:off x="3979939" y="2077860"/>
            <a:ext cx="42991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600" dirty="0"/>
              <a:t>2- </a:t>
            </a:r>
            <a:r>
              <a:rPr lang="fr-FR" sz="1600" dirty="0" err="1"/>
              <a:t>response</a:t>
            </a:r>
            <a:r>
              <a:rPr lang="fr-FR" sz="1600" dirty="0"/>
              <a:t> </a:t>
            </a:r>
            <a:r>
              <a:rPr lang="fr-FR" sz="1600" dirty="0" err="1"/>
              <a:t>contain</a:t>
            </a:r>
            <a:r>
              <a:rPr lang="fr-FR" sz="1600" dirty="0"/>
              <a:t> the adresse IP of </a:t>
            </a:r>
            <a:r>
              <a:rPr lang="fr-FR" sz="1600" dirty="0" err="1"/>
              <a:t>Code,com</a:t>
            </a:r>
            <a:endParaRPr lang="fr-FR" sz="1600" dirty="0"/>
          </a:p>
        </p:txBody>
      </p:sp>
      <p:pic>
        <p:nvPicPr>
          <p:cNvPr id="47" name="Graphique 46" descr="Loupe">
            <a:extLst>
              <a:ext uri="{FF2B5EF4-FFF2-40B4-BE49-F238E27FC236}">
                <a16:creationId xmlns:a16="http://schemas.microsoft.com/office/drawing/2014/main" id="{C239C832-65EF-03C1-6909-5FEC9281394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143671" y="2150236"/>
            <a:ext cx="457200" cy="457200"/>
          </a:xfrm>
          <a:prstGeom prst="rect">
            <a:avLst/>
          </a:prstGeom>
        </p:spPr>
      </p:pic>
      <p:sp>
        <p:nvSpPr>
          <p:cNvPr id="48" name="ZoneTexte 47">
            <a:extLst>
              <a:ext uri="{FF2B5EF4-FFF2-40B4-BE49-F238E27FC236}">
                <a16:creationId xmlns:a16="http://schemas.microsoft.com/office/drawing/2014/main" id="{1AA2FE17-FC34-C384-A1B1-C8D99E080ADD}"/>
              </a:ext>
            </a:extLst>
          </p:cNvPr>
          <p:cNvSpPr txBox="1"/>
          <p:nvPr/>
        </p:nvSpPr>
        <p:spPr>
          <a:xfrm>
            <a:off x="9786967" y="2235115"/>
            <a:ext cx="198661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Locate the IP address within the database.</a:t>
            </a:r>
            <a:endParaRPr lang="fr-FR" dirty="0"/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C77D9AE4-4507-97D8-1014-CED0CD26F1C1}"/>
              </a:ext>
            </a:extLst>
          </p:cNvPr>
          <p:cNvSpPr txBox="1"/>
          <p:nvPr/>
        </p:nvSpPr>
        <p:spPr>
          <a:xfrm>
            <a:off x="2961422" y="15197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</a:rPr>
              <a:t>How Does the Web Work?</a:t>
            </a:r>
            <a:endParaRPr lang="fr-FR" sz="4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B42E1521-38DF-783B-69D5-5536FB3E8D59}"/>
              </a:ext>
            </a:extLst>
          </p:cNvPr>
          <p:cNvSpPr txBox="1"/>
          <p:nvPr/>
        </p:nvSpPr>
        <p:spPr>
          <a:xfrm>
            <a:off x="1144955" y="5756411"/>
            <a:ext cx="433391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 </a:t>
            </a:r>
            <a:r>
              <a:rPr lang="fr-F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Request</a:t>
            </a:r>
            <a:r>
              <a:rPr lang="fr-F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→ Server → </a:t>
            </a:r>
            <a:r>
              <a:rPr lang="fr-F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Response</a:t>
            </a:r>
            <a:r>
              <a:rPr lang="fr-F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 → Display</a:t>
            </a:r>
          </a:p>
        </p:txBody>
      </p:sp>
      <p:pic>
        <p:nvPicPr>
          <p:cNvPr id="54" name="Image 53">
            <a:extLst>
              <a:ext uri="{FF2B5EF4-FFF2-40B4-BE49-F238E27FC236}">
                <a16:creationId xmlns:a16="http://schemas.microsoft.com/office/drawing/2014/main" id="{CD96CA99-C9AB-D585-0B08-0E84710B78F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570173" y="5660341"/>
            <a:ext cx="51574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94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D3E25B08-DA4E-DCA6-7A77-5E3F4310472A}"/>
              </a:ext>
            </a:extLst>
          </p:cNvPr>
          <p:cNvSpPr txBox="1"/>
          <p:nvPr/>
        </p:nvSpPr>
        <p:spPr>
          <a:xfrm>
            <a:off x="1700462" y="360765"/>
            <a:ext cx="964130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What we Need to Be a Web Developer?</a:t>
            </a:r>
            <a:endParaRPr lang="fr-FR" sz="40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A2C3E6D-0E8A-11E6-7446-B4514E90BC34}"/>
              </a:ext>
            </a:extLst>
          </p:cNvPr>
          <p:cNvSpPr txBox="1"/>
          <p:nvPr/>
        </p:nvSpPr>
        <p:spPr>
          <a:xfrm>
            <a:off x="1776053" y="1653933"/>
            <a:ext cx="18448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u="sng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Core</a:t>
            </a:r>
            <a:r>
              <a:rPr lang="fr-FR" sz="2800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fr-FR" sz="2800" i="1" u="sng" dirty="0" err="1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skills</a:t>
            </a:r>
            <a:endParaRPr lang="fr-FR" sz="2800" i="1" u="sng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DE1CF36-7DC6-487C-429E-5DEB2B3EC70E}"/>
              </a:ext>
            </a:extLst>
          </p:cNvPr>
          <p:cNvSpPr txBox="1"/>
          <p:nvPr/>
        </p:nvSpPr>
        <p:spPr>
          <a:xfrm>
            <a:off x="8671368" y="1938735"/>
            <a:ext cx="16443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sz="2800" i="1" u="sng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Tools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4288F46-001B-A706-1D16-9EBF08C10D06}"/>
              </a:ext>
            </a:extLst>
          </p:cNvPr>
          <p:cNvSpPr txBox="1"/>
          <p:nvPr/>
        </p:nvSpPr>
        <p:spPr>
          <a:xfrm>
            <a:off x="7082581" y="2993232"/>
            <a:ext cx="1395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Code editor 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C2A8454-1062-DC80-902B-1C5F2E1F2277}"/>
              </a:ext>
            </a:extLst>
          </p:cNvPr>
          <p:cNvSpPr txBox="1"/>
          <p:nvPr/>
        </p:nvSpPr>
        <p:spPr>
          <a:xfrm>
            <a:off x="10949965" y="2993232"/>
            <a:ext cx="102669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Browser 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7D5E04D-4B9E-8603-6CC1-82FA83F20696}"/>
              </a:ext>
            </a:extLst>
          </p:cNvPr>
          <p:cNvSpPr txBox="1"/>
          <p:nvPr/>
        </p:nvSpPr>
        <p:spPr>
          <a:xfrm>
            <a:off x="8575115" y="2993232"/>
            <a:ext cx="23501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Internet </a:t>
            </a:r>
            <a:r>
              <a:rPr lang="fr-FR" dirty="0" err="1"/>
              <a:t>connection</a:t>
            </a:r>
            <a:endParaRPr lang="fr-FR" dirty="0"/>
          </a:p>
        </p:txBody>
      </p:sp>
      <p:pic>
        <p:nvPicPr>
          <p:cNvPr id="16" name="Image 15">
            <a:extLst>
              <a:ext uri="{FF2B5EF4-FFF2-40B4-BE49-F238E27FC236}">
                <a16:creationId xmlns:a16="http://schemas.microsoft.com/office/drawing/2014/main" id="{F76F259A-6B01-ECE9-AB24-FAB3A7E88B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0690" y="3362565"/>
            <a:ext cx="628166" cy="628166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B5848BDF-8D7F-175C-98CF-1C7489FEF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13977" t="8187" r="12807" b="9005"/>
          <a:stretch>
            <a:fillRect/>
          </a:stretch>
        </p:blipFill>
        <p:spPr>
          <a:xfrm>
            <a:off x="9113146" y="3362564"/>
            <a:ext cx="760761" cy="860413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007F311C-34D6-BE81-E10A-18199A9CB3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33107" y="3362563"/>
            <a:ext cx="860413" cy="860413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49036CD8-DBB6-7CD0-0B31-97AD807B6D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0554" y="2834927"/>
            <a:ext cx="1422734" cy="1422734"/>
          </a:xfrm>
          <a:prstGeom prst="rect">
            <a:avLst/>
          </a:prstGeom>
        </p:spPr>
      </p:pic>
      <p:pic>
        <p:nvPicPr>
          <p:cNvPr id="20" name="Image 19">
            <a:extLst>
              <a:ext uri="{FF2B5EF4-FFF2-40B4-BE49-F238E27FC236}">
                <a16:creationId xmlns:a16="http://schemas.microsoft.com/office/drawing/2014/main" id="{E95AAA33-8478-FE95-08C2-AE7F708AA5F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4797" b="89668" l="9677" r="89785">
                        <a14:foregroundMark x1="75269" y1="4059" x2="46774" y2="18450"/>
                        <a14:foregroundMark x1="46774" y1="18450" x2="23118" y2="5535"/>
                        <a14:foregroundMark x1="23118" y1="5535" x2="55376" y2="4797"/>
                        <a14:foregroundMark x1="55376" y1="4797" x2="72581" y2="4797"/>
                        <a14:foregroundMark x1="70968" y1="7380" x2="34409" y2="9594"/>
                        <a14:foregroundMark x1="75269" y1="7749" x2="56452" y2="17343"/>
                        <a14:foregroundMark x1="68817" y1="11808" x2="73656" y2="9225"/>
                        <a14:foregroundMark x1="25806" y1="7749" x2="39785" y2="14760"/>
                        <a14:foregroundMark x1="54301" y1="9225" x2="51075" y2="7380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243030" y="2834927"/>
            <a:ext cx="1073066" cy="1563445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D113BFBC-A634-135B-B7B3-1D56CC786A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45838" y="2858330"/>
            <a:ext cx="1292741" cy="1399331"/>
          </a:xfrm>
          <a:prstGeom prst="rect">
            <a:avLst/>
          </a:prstGeom>
        </p:spPr>
      </p:pic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22522C04-B834-18C6-FD34-0C01181F34D2}"/>
              </a:ext>
            </a:extLst>
          </p:cNvPr>
          <p:cNvCxnSpPr>
            <a:stCxn id="7" idx="2"/>
            <a:endCxn id="19" idx="0"/>
          </p:cNvCxnSpPr>
          <p:nvPr/>
        </p:nvCxnSpPr>
        <p:spPr>
          <a:xfrm flipH="1">
            <a:off x="1201921" y="2177153"/>
            <a:ext cx="1496553" cy="6577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1BB8EA54-90C4-C7FB-5A9C-57056981FC8C}"/>
              </a:ext>
            </a:extLst>
          </p:cNvPr>
          <p:cNvCxnSpPr>
            <a:cxnSpLocks/>
            <a:stCxn id="7" idx="2"/>
            <a:endCxn id="20" idx="0"/>
          </p:cNvCxnSpPr>
          <p:nvPr/>
        </p:nvCxnSpPr>
        <p:spPr>
          <a:xfrm>
            <a:off x="2698474" y="2177153"/>
            <a:ext cx="81089" cy="65777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B19DFC54-BEAA-D322-3D87-CECF155163F5}"/>
              </a:ext>
            </a:extLst>
          </p:cNvPr>
          <p:cNvCxnSpPr>
            <a:cxnSpLocks/>
            <a:stCxn id="7" idx="2"/>
          </p:cNvCxnSpPr>
          <p:nvPr/>
        </p:nvCxnSpPr>
        <p:spPr>
          <a:xfrm>
            <a:off x="2698474" y="2177153"/>
            <a:ext cx="1616464" cy="56960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Connecteur droit 29">
            <a:extLst>
              <a:ext uri="{FF2B5EF4-FFF2-40B4-BE49-F238E27FC236}">
                <a16:creationId xmlns:a16="http://schemas.microsoft.com/office/drawing/2014/main" id="{852C47A7-C0B8-3D99-B826-AC76D7BDBC11}"/>
              </a:ext>
            </a:extLst>
          </p:cNvPr>
          <p:cNvCxnSpPr>
            <a:cxnSpLocks/>
            <a:stCxn id="9" idx="2"/>
            <a:endCxn id="11" idx="0"/>
          </p:cNvCxnSpPr>
          <p:nvPr/>
        </p:nvCxnSpPr>
        <p:spPr>
          <a:xfrm flipH="1">
            <a:off x="7780413" y="2461955"/>
            <a:ext cx="1713113" cy="5312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56EC1ED1-5D27-29B7-E053-436281C36C71}"/>
              </a:ext>
            </a:extLst>
          </p:cNvPr>
          <p:cNvCxnSpPr>
            <a:cxnSpLocks/>
            <a:stCxn id="9" idx="2"/>
            <a:endCxn id="15" idx="0"/>
          </p:cNvCxnSpPr>
          <p:nvPr/>
        </p:nvCxnSpPr>
        <p:spPr>
          <a:xfrm>
            <a:off x="9493526" y="2461955"/>
            <a:ext cx="256673" cy="5312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eur droit 35">
            <a:extLst>
              <a:ext uri="{FF2B5EF4-FFF2-40B4-BE49-F238E27FC236}">
                <a16:creationId xmlns:a16="http://schemas.microsoft.com/office/drawing/2014/main" id="{05A7BCA2-FC20-4195-ABAC-65D52CA632F5}"/>
              </a:ext>
            </a:extLst>
          </p:cNvPr>
          <p:cNvCxnSpPr>
            <a:cxnSpLocks/>
            <a:stCxn id="9" idx="2"/>
            <a:endCxn id="13" idx="0"/>
          </p:cNvCxnSpPr>
          <p:nvPr/>
        </p:nvCxnSpPr>
        <p:spPr>
          <a:xfrm>
            <a:off x="9493526" y="2461955"/>
            <a:ext cx="1969787" cy="531277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ZoneTexte 39">
            <a:extLst>
              <a:ext uri="{FF2B5EF4-FFF2-40B4-BE49-F238E27FC236}">
                <a16:creationId xmlns:a16="http://schemas.microsoft.com/office/drawing/2014/main" id="{3E05D4E0-56FD-DFA6-6F00-8E87FF56825E}"/>
              </a:ext>
            </a:extLst>
          </p:cNvPr>
          <p:cNvSpPr txBox="1"/>
          <p:nvPr/>
        </p:nvSpPr>
        <p:spPr>
          <a:xfrm>
            <a:off x="806386" y="4401570"/>
            <a:ext cx="11069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structure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971E05B-01A2-0A10-1A7E-5667AEA09738}"/>
              </a:ext>
            </a:extLst>
          </p:cNvPr>
          <p:cNvSpPr txBox="1"/>
          <p:nvPr/>
        </p:nvSpPr>
        <p:spPr>
          <a:xfrm>
            <a:off x="2336418" y="4442457"/>
            <a:ext cx="8977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/>
              <a:t>design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DCE5261-9C6C-EBBE-23BD-01D1747DFA55}"/>
              </a:ext>
            </a:extLst>
          </p:cNvPr>
          <p:cNvSpPr txBox="1"/>
          <p:nvPr/>
        </p:nvSpPr>
        <p:spPr>
          <a:xfrm>
            <a:off x="3668567" y="4401570"/>
            <a:ext cx="1292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dirty="0" err="1"/>
              <a:t>interactivity</a:t>
            </a:r>
            <a:endParaRPr lang="fr-FR" dirty="0"/>
          </a:p>
        </p:txBody>
      </p:sp>
      <p:pic>
        <p:nvPicPr>
          <p:cNvPr id="45" name="Image 44">
            <a:extLst>
              <a:ext uri="{FF2B5EF4-FFF2-40B4-BE49-F238E27FC236}">
                <a16:creationId xmlns:a16="http://schemas.microsoft.com/office/drawing/2014/main" id="{C9363967-FDDA-14A6-95E8-C0C7FD749FA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72988" y="2999041"/>
            <a:ext cx="1399331" cy="1399331"/>
          </a:xfrm>
          <a:prstGeom prst="rect">
            <a:avLst/>
          </a:prstGeom>
        </p:spPr>
      </p:pic>
      <p:sp>
        <p:nvSpPr>
          <p:cNvPr id="46" name="ZoneTexte 45">
            <a:extLst>
              <a:ext uri="{FF2B5EF4-FFF2-40B4-BE49-F238E27FC236}">
                <a16:creationId xmlns:a16="http://schemas.microsoft.com/office/drawing/2014/main" id="{07B13DD0-3BF0-4E2E-507F-1434B06824CA}"/>
              </a:ext>
            </a:extLst>
          </p:cNvPr>
          <p:cNvSpPr txBox="1"/>
          <p:nvPr/>
        </p:nvSpPr>
        <p:spPr>
          <a:xfrm>
            <a:off x="5236792" y="4325279"/>
            <a:ext cx="17871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err="1"/>
              <a:t>Problems</a:t>
            </a:r>
            <a:r>
              <a:rPr lang="fr-FR" dirty="0"/>
              <a:t> </a:t>
            </a:r>
            <a:r>
              <a:rPr lang="fr-FR" dirty="0" err="1"/>
              <a:t>Solving</a:t>
            </a:r>
            <a:endParaRPr lang="fr-FR" dirty="0"/>
          </a:p>
        </p:txBody>
      </p:sp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1272AE9A-3209-BB59-B7F3-7B797751DD63}"/>
              </a:ext>
            </a:extLst>
          </p:cNvPr>
          <p:cNvCxnSpPr>
            <a:stCxn id="7" idx="2"/>
            <a:endCxn id="45" idx="0"/>
          </p:cNvCxnSpPr>
          <p:nvPr/>
        </p:nvCxnSpPr>
        <p:spPr>
          <a:xfrm>
            <a:off x="2698474" y="2177153"/>
            <a:ext cx="3374180" cy="821888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ZoneTexte 49">
            <a:extLst>
              <a:ext uri="{FF2B5EF4-FFF2-40B4-BE49-F238E27FC236}">
                <a16:creationId xmlns:a16="http://schemas.microsoft.com/office/drawing/2014/main" id="{ABCE6293-9E94-2A95-6397-FBDEDA5840F8}"/>
              </a:ext>
            </a:extLst>
          </p:cNvPr>
          <p:cNvSpPr txBox="1"/>
          <p:nvPr/>
        </p:nvSpPr>
        <p:spPr>
          <a:xfrm>
            <a:off x="1359836" y="580090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i="1" dirty="0"/>
              <a:t>Most important skill: Learning how to learn</a:t>
            </a:r>
            <a:endParaRPr lang="fr-FR" i="1" dirty="0"/>
          </a:p>
        </p:txBody>
      </p:sp>
      <p:pic>
        <p:nvPicPr>
          <p:cNvPr id="51" name="Image 50">
            <a:extLst>
              <a:ext uri="{FF2B5EF4-FFF2-40B4-BE49-F238E27FC236}">
                <a16:creationId xmlns:a16="http://schemas.microsoft.com/office/drawing/2014/main" id="{791AA82B-7A25-D7E7-4266-2AE661B4C51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400000">
            <a:off x="748020" y="5704831"/>
            <a:ext cx="51574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486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2BAD46D-297F-9D75-D223-BDFE0FA2CB40}"/>
              </a:ext>
            </a:extLst>
          </p:cNvPr>
          <p:cNvSpPr txBox="1"/>
          <p:nvPr/>
        </p:nvSpPr>
        <p:spPr>
          <a:xfrm>
            <a:off x="1275347" y="553270"/>
            <a:ext cx="964130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dirty="0">
                <a:solidFill>
                  <a:schemeClr val="accent1">
                    <a:lumMod val="50000"/>
                  </a:schemeClr>
                </a:solidFill>
                <a:latin typeface="+mj-lt"/>
              </a:rPr>
              <a:t>Why Did I Choose Web Development?</a:t>
            </a:r>
            <a:endParaRPr lang="fr-FR" sz="4000" dirty="0">
              <a:solidFill>
                <a:schemeClr val="accent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93B7F64-AAFF-0D19-E68A-AAE3E77FFDE2}"/>
              </a:ext>
            </a:extLst>
          </p:cNvPr>
          <p:cNvSpPr txBox="1"/>
          <p:nvPr/>
        </p:nvSpPr>
        <p:spPr>
          <a:xfrm>
            <a:off x="2534651" y="1736104"/>
            <a:ext cx="7122695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I chose web development because:</a:t>
            </a:r>
          </a:p>
          <a:p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 like building real </a:t>
            </a:r>
            <a:r>
              <a:rPr lang="en-US" sz="2400" dirty="0" err="1"/>
              <a:t>projectsIt</a:t>
            </a:r>
            <a:r>
              <a:rPr lang="en-US" sz="24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allows me to create online businesses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It’s a high-demand </a:t>
            </a:r>
            <a:r>
              <a:rPr lang="en-US" sz="2400" dirty="0" err="1"/>
              <a:t>skillI</a:t>
            </a:r>
            <a:r>
              <a:rPr lang="en-US" sz="2400" dirty="0"/>
              <a:t> can work freelance or remotely</a:t>
            </a:r>
            <a:endParaRPr lang="fr-FR" sz="2400" dirty="0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C435668-77DA-BFBB-115A-90BC364FFBB5}"/>
              </a:ext>
            </a:extLst>
          </p:cNvPr>
          <p:cNvSpPr txBox="1"/>
          <p:nvPr/>
        </p:nvSpPr>
        <p:spPr>
          <a:xfrm>
            <a:off x="2534650" y="4932766"/>
            <a:ext cx="758791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i="1" dirty="0"/>
              <a:t>For me, it’s not just learning code — it’s building solutions.</a:t>
            </a:r>
            <a:endParaRPr lang="fr-FR" sz="2000" i="1" dirty="0"/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3F41549B-E036-932B-C84C-81105B185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5400000">
            <a:off x="1811560" y="4836696"/>
            <a:ext cx="515746" cy="707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043031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Grand écran</PresentationFormat>
  <Paragraphs>33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Thème Office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dell</dc:creator>
  <cp:lastModifiedBy>dell</cp:lastModifiedBy>
  <cp:revision>1</cp:revision>
  <dcterms:created xsi:type="dcterms:W3CDTF">2026-04-01T21:39:03Z</dcterms:created>
  <dcterms:modified xsi:type="dcterms:W3CDTF">2026-04-01T21:40:04Z</dcterms:modified>
</cp:coreProperties>
</file>